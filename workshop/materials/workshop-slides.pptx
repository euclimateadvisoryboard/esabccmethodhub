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 only (no CDR)</c:v>
                </c:pt>
              </c:strCache>
            </c:strRef>
          </c:tx>
          <c:spPr>
            <a:solidFill>
              <a:srgbClr val="5C6F76"/>
            </a:solidFill>
            <a:ln w="38100" cap="flat">
              <a:solidFill>
                <a:srgbClr val="5C6F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6F76"/>
              </a:solidFill>
              <a:ln w="9525" cap="flat">
                <a:solidFill>
                  <a:srgbClr val="5C6F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</c:v>
                </c:pt>
                <c:pt idx="1">
                  <c:v>234</c:v>
                </c:pt>
                <c:pt idx="2">
                  <c:v>308</c:v>
                </c:pt>
                <c:pt idx="3">
                  <c:v>404</c:v>
                </c:pt>
                <c:pt idx="4">
                  <c:v>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CDR safety valve</c:v>
                </c:pt>
              </c:strCache>
            </c:strRef>
          </c:tx>
          <c:spPr>
            <a:solidFill>
              <a:srgbClr val="E36414"/>
            </a:solidFill>
            <a:ln w="38100" cap="flat">
              <a:solidFill>
                <a:srgbClr val="E364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2025</c:v>
                  </c:pt>
                  <c:pt idx="1">
                    <c:v>2030</c:v>
                  </c:pt>
                  <c:pt idx="2">
                    <c:v>2035</c:v>
                  </c:pt>
                  <c:pt idx="3">
                    <c:v>2040</c:v>
                  </c:pt>
                  <c:pt idx="4">
                    <c:v>2050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148</c:v>
                </c:pt>
                <c:pt idx="1">
                  <c:v>195</c:v>
                </c:pt>
                <c:pt idx="2">
                  <c:v>256</c:v>
                </c:pt>
                <c:pt idx="3">
                  <c:v>336</c:v>
                </c:pt>
                <c:pt idx="4">
                  <c:v>580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F76"/>
                    </a:solidFill>
                    <a:latin typeface="Arial"/>
                  </a:rPr>
                  <a:t>€/tCO2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 (German day-ahead)</c:v>
                </c:pt>
              </c:strCache>
            </c:strRef>
          </c:tx>
          <c:spPr>
            <a:solidFill>
              <a:srgbClr val="E36414"/>
            </a:solidFill>
            <a:ln w="31750" cap="flat">
              <a:solidFill>
                <a:srgbClr val="E364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31.6</c:v>
                </c:pt>
                <c:pt idx="1">
                  <c:v>29</c:v>
                </c:pt>
                <c:pt idx="2">
                  <c:v>34.2</c:v>
                </c:pt>
                <c:pt idx="3">
                  <c:v>44.5</c:v>
                </c:pt>
                <c:pt idx="4">
                  <c:v>37.7</c:v>
                </c:pt>
                <c:pt idx="5">
                  <c:v>30.5</c:v>
                </c:pt>
                <c:pt idx="6">
                  <c:v>96.8</c:v>
                </c:pt>
                <c:pt idx="7">
                  <c:v>235.4</c:v>
                </c:pt>
                <c:pt idx="8">
                  <c:v>95.2</c:v>
                </c:pt>
                <c:pt idx="9">
                  <c:v>78.5</c:v>
                </c:pt>
                <c:pt idx="10">
                  <c:v>89.3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 (major hubs avg)</c:v>
                </c:pt>
              </c:strCache>
            </c:strRef>
          </c:tx>
          <c:spPr>
            <a:solidFill>
              <a:srgbClr val="0F4C5C"/>
            </a:solidFill>
            <a:ln w="31750" cap="flat">
              <a:solidFill>
                <a:srgbClr val="0F4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30</c:v>
                </c:pt>
                <c:pt idx="1">
                  <c:v>24</c:v>
                </c:pt>
                <c:pt idx="2">
                  <c:v>27</c:v>
                </c:pt>
                <c:pt idx="3">
                  <c:v>30</c:v>
                </c:pt>
                <c:pt idx="4">
                  <c:v>24</c:v>
                </c:pt>
                <c:pt idx="5">
                  <c:v>19</c:v>
                </c:pt>
                <c:pt idx="6">
                  <c:v>34</c:v>
                </c:pt>
                <c:pt idx="7">
                  <c:v>59</c:v>
                </c:pt>
                <c:pt idx="8">
                  <c:v>28</c:v>
                </c:pt>
                <c:pt idx="9">
                  <c:v>33</c:v>
                </c:pt>
                <c:pt idx="10">
                  <c:v>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China (administered)</c:v>
                </c:pt>
              </c:strCache>
            </c:strRef>
          </c:tx>
          <c:spPr>
            <a:solidFill>
              <a:srgbClr val="8A9BA3"/>
            </a:solidFill>
            <a:ln w="31750" cap="flat">
              <a:solidFill>
                <a:srgbClr val="8A9B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9BA3"/>
              </a:solidFill>
              <a:ln w="9525" cap="flat">
                <a:solidFill>
                  <a:srgbClr val="8A9B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47</c:v>
                </c:pt>
                <c:pt idx="1">
                  <c:v>46</c:v>
                </c:pt>
                <c:pt idx="2">
                  <c:v>47</c:v>
                </c:pt>
                <c:pt idx="3">
                  <c:v>47</c:v>
                </c:pt>
                <c:pt idx="4">
                  <c:v>46</c:v>
                </c:pt>
                <c:pt idx="5">
                  <c:v>45</c:v>
                </c:pt>
                <c:pt idx="6">
                  <c:v>50</c:v>
                </c:pt>
                <c:pt idx="7">
                  <c:v>60</c:v>
                </c:pt>
                <c:pt idx="8">
                  <c:v>58</c:v>
                </c:pt>
                <c:pt idx="9">
                  <c:v>53</c:v>
                </c:pt>
                <c:pt idx="10">
                  <c:v>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A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F76"/>
                    </a:solidFill>
                    <a:latin typeface="Arial"/>
                  </a:rPr>
                  <a:t>€/MWh, annual average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EU-27 household</c:v>
                  </c:pt>
                  <c:pt idx="1">
                    <c:v>Germany</c:v>
                  </c:pt>
                  <c:pt idx="2">
                    <c:v>United States</c:v>
                  </c:pt>
                  <c:pt idx="3">
                    <c:v>China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</c:v>
                </c:pt>
              </c:strCache>
            </c:strRef>
          </c:tx>
          <c:spPr>
            <a:solidFill>
              <a:srgbClr val="8FB3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EU-27 household</c:v>
                  </c:pt>
                  <c:pt idx="1">
                    <c:v>Germany</c:v>
                  </c:pt>
                  <c:pt idx="2">
                    <c:v>United States</c:v>
                  </c:pt>
                  <c:pt idx="3">
                    <c:v>China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28</c:v>
                </c:pt>
                <c:pt idx="2">
                  <c:v>40</c:v>
                </c:pt>
                <c:pt idx="3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Taxes &amp; levies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EU-27 household</c:v>
                  </c:pt>
                  <c:pt idx="1">
                    <c:v>Germany</c:v>
                  </c:pt>
                  <c:pt idx="2">
                    <c:v>United States</c:v>
                  </c:pt>
                  <c:pt idx="3">
                    <c:v>China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22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3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Electricity share of final energy, 2040 (%)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Today (stalled since 2005)</c:v>
                  </c:pt>
                  <c:pt idx="1">
                    <c:v>Action Plan target</c:v>
                  </c:pt>
                  <c:pt idx="2">
                    <c:v>EC Impact Assessment</c:v>
                  </c:pt>
                  <c:pt idx="3">
                    <c:v>CLEVER / REMIND (PIK)</c:v>
                  </c:pt>
                  <c:pt idx="4">
                    <c:v>ESABCC advice</c:v>
                  </c:pt>
                  <c:pt idx="5">
                    <c:v>SP90 (Strategic Perspectives)</c:v>
                  </c:pt>
                  <c:pt idx="6">
                    <c:v>PAC 2.0 (CAN Europe)</c:v>
                  </c:pt>
                  <c:pt idx="7">
                    <c:v>Technical ceiling (Eurelectric)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</c:v>
                </c:pt>
                <c:pt idx="1">
                  <c:v>46</c:v>
                </c:pt>
                <c:pt idx="2">
                  <c:v>48.5</c:v>
                </c:pt>
                <c:pt idx="3">
                  <c:v>51</c:v>
                </c:pt>
                <c:pt idx="4">
                  <c:v>52</c:v>
                </c:pt>
                <c:pt idx="5">
                  <c:v>57</c:v>
                </c:pt>
                <c:pt idx="6">
                  <c:v>70</c:v>
                </c:pt>
                <c:pt idx="7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to 2040, Mt CO₂e (central reading)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Slower cap decline (LRF)</c:v>
                  </c:pt>
                  <c:pt idx="1">
                    <c:v>International credits</c:v>
                  </c:pt>
                  <c:pt idx="2">
                    <c:v>MSR weakening</c:v>
                  </c:pt>
                  <c:pt idx="3">
                    <c:v>Extra-EU aviation carve-out</c:v>
                  </c:pt>
                  <c:pt idx="4">
                    <c:v>Free-allocation demands (4)</c:v>
                  </c:pt>
                  <c:pt idx="5">
                    <c:v>Removal-credit integrity gap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671</c:v>
                </c:pt>
                <c:pt idx="1">
                  <c:v>280</c:v>
                </c:pt>
                <c:pt idx="2">
                  <c:v>162</c:v>
                </c:pt>
                <c:pt idx="3">
                  <c:v>151</c:v>
                </c:pt>
                <c:pt idx="4">
                  <c:v>145</c:v>
                </c:pt>
                <c:pt idx="5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One promise for the day: by 17:00 every participant can explain — and defend with arithmetic — why the ETS price is what it is, who sets the power price, what the 2040 target actually requires, and where the framework is fragile.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module: 30–40 min taught mechanism, then a hands-on exercise in teams, then debrief. Laptops out for modules 1–3.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who can name the current LRF? Usually nobody — yet it is the single most consequential number in EU climate policy. That is the gap this day closes. Commission claims 85–87% by 2040 from this package; Climact estimates ~80%. We will be able to adjudicate that by 15:00.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most commentary treats the EUA price like a share price. It is closer to the shadow price of a fixed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understanding: if the Commission tightens the 2035 cap, why does TODAY's price move? Because the cumulative budget shrank — banking transmits the future into the present. This is why announcement days move the EUA price years ahead of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amber line first. Then the grey. The €117/t wedge at 2050 is the entire policy argument for integrating removals. But hold the scepticism for two slides — the pipeline reality check is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'admitted volume' as the governable dial — that's what the exercise manipulates. Sudden unlimited opening is what both publications argue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rhetorical pivot of Module 1: the model says the valve works; the pipeline says the valve does not currently exist at scale. Both are true. Policy question: what closes a 54× gap in 24 years? Answer in the real package: a Removals Authority with auction revenue — next slide's exercise probes whether that is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Facilitator: circulate; the common error is treating the 250 Mt as inside the cap (it is on top, Art. 9c). Teams that catch this get the direction of the price effect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Most-requested module in pilots. Promise: after 90 minutes nobody in the room will ever again say 'renewables made power expensive' — or 'the market is broken' — without qualifying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staircase on a flipchart as you talk. Quiz: demand rises 10 GW at 3am vs 6pm — why does the price jump differ? Because the STEP of the staircase you land on differs. That intuition is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participants photograph. TTF settles at a structural 3–5× Henry Hub (≈€34 vs €7 in 2024). Divided by η≈0.56, the fuel term alone separates EU and US power by €50–60/MWh before carbon enters.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2022 and ask what changed. Not the mechanism, not renewables — the marginal fuel. Then point at China's flat line: cheap by administration, not by auction, with the externality left off the 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lunch: everything so far was diagnosis. This afternoon is prescription — module 3 asks what actually decarbonises demand, and module 4 stress-tests the whole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for facilitator: EU 2025 defaults clear at ≈€95 with CCGT marginal. Aug 2022: marginal CCGT alone &gt;€450/MWh. US preset ≈€24, China ≈€36.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quantitative heart of the day. One number to plant: €111/t — the shadow value of demand-side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Claimed prize: ~€260 bn/yr less fossil imports by 2040. Also flag data centres/AI (+100–300 TWh by 2040): demand growth inflates the ratio without decarbonising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to burn in: price-only (€166) ≫ ETS2 trigger (€45) ≫ price-with-measures (€55). Sector shift under the package: transport delivers more (8.8→10.4 pp), industry less (4.0→2.6) — vehicle standards are cheap per tonne, industrial CCfDs are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teach lever 1 only — it is the cheapest and least known. In most member states electricity is taxed MORE than gas; that is the single dumbest ratio in EU energy policy and fixing it is Pillar 1 of the Action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metric critique, not a target critique: the target may be right and the METRIC still misleading. One Commission official: 'further work until the end of this year in terms of analytical basis'. Bruce Douglas' counter: 'best metric we have'.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 for facilitator: hp 13%, ev 4%, COP 3.0, boiler η 0.9, ICE÷EV = 3.3, heat 2,500 TWh, cars 1,700 TWh, total 8,100 TWh.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of register: modules 1–3 explained the machine working. Module 4 asks what breaks it — from inside (politics) and outside (climate impacts themselves).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point: the identity sorts lobbying by what actually bites. LRF (+671) &gt; intl credits (+280, at 70% non-additionality) &gt; MSR &gt; aviation &gt; ALL free-allocation asks combined. The one helpful demand — revenue earmarking — offsets 4.6% of the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spread is the honest headline: 7 Mt (fires stop worsening) to 221 Mt (hotter fires, slower recovery) — a factor of 30. And the outer bound: with NO land sink, net zero in 2050 is not net zero, it is absolute zero — €127 bn/yr of engineered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15-min debate exercise if running ahead: assign each team one wishlist demand; defend or attack it USING ONLY the accounting identity. Rule: no adjectives, only tonnes.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exercise (20 min): each participant writes a personal watchlist — which three of these five, plus two organisation-specific indicators, with the source they will check quarterly. Pairs exchange and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each thread with the module it came from. These four are the durable take-home; the numbers will age, the reasoning patterns will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one-line feedback cards. Offer the 90-minute executive replay for leadership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WORKSHOP · ONE DAY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 Climate Machine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carbon pricing, electricity markets and the 2040 framework actually work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through interactive economic models, not slideware.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08792" y="5577840"/>
            <a:ext cx="457200" cy="45720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are stylised teaching instruments · every number sourced to public EU documents · independently produced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one machine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  <a:gridCol w="44165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you leave with an answer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09:00–09:30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&amp; framing — the 2026 moment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 mechanisms beat headlines right now?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09:30–11:00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 · The carbon pricing endgame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is the ETS price not a market mood?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11:15–12:45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 · Why European electricity costs what it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sets the power price, hour by hour?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13:30–15:00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 · Electrification and the 2040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shadow value of demand-side policy?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15:15–16:15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 · Stress tests — politics and 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the framework bend, and where does it break?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16:15–17:00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— the five numbers to watch to 2030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on your monitoring list tomorrow?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· 09:00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2026: the biggest redesign of EU carbon pricing since 2023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8348472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ETS review package proposes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decline (linear reduction factor) slowed from today's 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 for 2031–35, then 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carbon removals bought by a new Removals Authority — on top of the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Mt over 2031–40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credits re-admitted from 2036 (2033 availability review; fail ⇒ LRF reverts to 2.7%)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≈260 Mt cumulative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Stability Reserve intake rate halved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 → 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Decarbonisation Bank funded from ETS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 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CBAM free-allocation phase-out slowed and 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2034 → 2038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Resulting 2040 cap (vs ≈69 Mt under current law)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≈330 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traces to a public document: COM(2026) 616, SWD(2026) 616 (958 pp), EUR-Lex, Eurostat, EEA. Headlines argue about ambition; the machine runs on parameters like these.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82296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09:30–11:00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pricing endgame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the EU carbon price not a market mood — and what happens to it as the cap goes to zero?”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stylised Hotelling / MACC reconstruction of PIK's LIMES-EU analyses (Joule 2026, Ariadne)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ETS is a cumulative budget, so the price is intertemporal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shrinking cap plus banking means firms solve an intertemporal problem: hold an allowance if its price will rise faster than your discount rate.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forces the expected price to rise at roughly the discount rate (~5.6%/yr) for as long as the bank is positive — the Hotelling rule.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whole path is pinned by ONE number: the starting price P₀ that makes cumulative emissions 2025–2050 exactly exhaust the cumulative cap plus the bank (~1,500 Mt).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Abatement follows a convex marginal-abatement-cost curve that saturates at φmax ≈ 81% of baseline — the last hard-to-abate tonnes get arbitrarily expensive.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as the cap approaches zero, a price-only system produces an endgame spike. That spike, not today's price, is what the 2026 redesign is really about.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8EE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model:  </a:t>
            </a:r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price(t) = P₀ · (1 + r)^(t−2025), with P₀ solved so that Σ net emissions = Σ cap + bank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MODEL RUNS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futures for the allowance price — with and without a CDR safety valve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554480"/>
            <a:ext cx="4050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lands at €195/t in 2030 and €336/t in 2040 — deliberately a few euros below the published anchors it reproduces (€203 / €353, PIK LIMES-EU).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 allowances barely trade: the price tracks the marginal cost of removals.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annual relief from the valve: ≈ €117/t, around 2050.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CDR deployed at defaults: 0 in 2030 → 43 Mt in 2040 → 90 Mt/yr in 2050 (900 Mt cumulative).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Stylised reduced-form reconstruction of Sultani et al., “Sequencing Carbon Dioxide Removal into the EU ETS”, Joule (2026) and the Ariadne safety-valve dossier — illustrative, not a forecast.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valve is a three-way minimum, not an open door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EE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removals(t) = min(  supply at price P,   capacity ramp,   admitted volume  )  ·  (1 − integrity haircut)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85432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Removals deploy when the allowance price clears their cost (BECCS floor ≈ €70/t; BECCS €61–86, DACCS €109–155)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qCdr = (P − 70) / 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ramp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build-out limit — plants take 3–5 years from FID to 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Mt/yr ceiling by 2050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POLICY lever: how many removal certificates the ETS accepts, docked via the MSR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before 2031, ramp to 90 Mt/yr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 haircut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per certificate for non-permanence / MRV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papers' three-stage sequencing: ① prepare &amp; signal (CRCF certification, MRV) → ② limited admission via the MSR → ③ full backstop as the cap reaches zero. The tension: the same removals that contain prices also deter conventional abatement.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REALITY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the valve depends on, mid-2026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E8EEF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09928"/>
            <a:ext cx="17611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Mt/yr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258568"/>
            <a:ext cx="17611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novel CDR in Europe today (biochar + DAC pilots + Climeworks Orca/Mammoth)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12694" y="16002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E8EEF0"/>
          </a:solidFill>
          <a:ln/>
        </p:spPr>
      </p:sp>
      <p:sp>
        <p:nvSpPr>
          <p:cNvPr id="9" name="Text 7"/>
          <p:cNvSpPr/>
          <p:nvPr/>
        </p:nvSpPr>
        <p:spPr>
          <a:xfrm>
            <a:off x="2949854" y="1709928"/>
            <a:ext cx="17611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Mt/yr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49854" y="2258568"/>
            <a:ext cx="17611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final investment decision: Stockholm Exergi (800 kt BECCS) + Ørsted Kalundborg (430 kt)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6749" y="16002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E8EEF0"/>
          </a:solidFill>
          <a:ln/>
        </p:spPr>
      </p:sp>
      <p:sp>
        <p:nvSpPr>
          <p:cNvPr id="12" name="Text 10"/>
          <p:cNvSpPr/>
          <p:nvPr/>
        </p:nvSpPr>
        <p:spPr>
          <a:xfrm>
            <a:off x="5213909" y="1709928"/>
            <a:ext cx="17611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Mt/yr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3909" y="2258568"/>
            <a:ext cx="17611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announced pipeline including pre-FID projects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40803" y="16002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E8EEF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7963" y="1709928"/>
            <a:ext cx="17611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68–86 Mt/yr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77963" y="2258568"/>
            <a:ext cx="17611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Safety-valve need by 2050 (model / published range)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4858" y="16002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E8EEF0"/>
          </a:solidFill>
          <a:ln/>
        </p:spPr>
      </p:sp>
      <p:sp>
        <p:nvSpPr>
          <p:cNvPr id="18" name="Text 16"/>
          <p:cNvSpPr/>
          <p:nvPr/>
        </p:nvSpPr>
        <p:spPr>
          <a:xfrm>
            <a:off x="9742018" y="1709928"/>
            <a:ext cx="17611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≈54×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42018" y="2258568"/>
            <a:ext cx="17611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required from today's FID-backed capacity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 takes 3–5 years from FID to operation (Stockholm Exergi: FID 2025 → online 2028). Set the model's availability near today's pipeline and the valve barely bites — the price spikes anyway.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sink cannot substitute: it is reversible (a fire releases it) and sits under the separate LULUCF Regulation — it cannot back a tradable allowance.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'delayed CDR' preset is the scariest one in the model — and why the 2033 review clause in the real package has teeth.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illustrative snapshot, mid-2026; nameplate capacities. LULUCF sink: −198 Mt (2023) vs −310 Mt 2030 target.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EXERCISE · 25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July 2026 package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3–4, one laptop per team, model preloaded (workbook page 4 has the parameter map).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Translate: map each element of the real package onto a model dial. Slower LRF → net-zero year &amp; cap; 250 Mt Removals Authority → admitted volume &amp; start year; MSR halving → bank pass-through.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Predict before you run: write down whether the 2030 and 2040 prices rise or fall vs the €195 / €336 base case, and by roughly how much.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Run and reconcile: where were you most wrong? Which dial dominated?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One sentence per team: does the package raise or lower the endgame spike — and who should be nervous about your answer?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A35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12064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anchor: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presets (cautious / no-CDR / aggressive / delayed / weak-abatement) are five coherent worldviews, not five parameter sets. Every Brussels position paper you read this autumn is one of them in disguise.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82296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11:15–12:45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European electricity costs what it costs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same auction mechanism, fed with EU, US or Chinese inputs, produces EU, US or Chinese prices. The gap is an input gap, not a mechanism gap.”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stylised single-node merit-order auction — EU, US and China presets from public fuel, carbon and capacity data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formula and one sort: the uniform-price auction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8EE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 = fuel/η  +  (EF/η)·CO₂ price  +  O&amp;M      </a:t>
            </a:r>
            <a:pPr indent="0" marL="0">
              <a:buNone/>
            </a:pPr>
            <a:r>
              <a:rPr lang="en-US" sz="120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(€/MWh; stack cheapest-first; the last plant needed sets the price for ALL)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plant bids ≈ its short-run marginal cost; bids stack cheapest-first; the marginal plant clears the market and every dispatched plant is paid its price.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and efficient: dispatch cost is minimised, and the infra-marginal rent is what finances the cheap plants' capital.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cost of the fleet is IRRELEVANT to the price. Only the marginal machine matters.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Europe that machine is a gas plant in ≈55–65% of hours (JRC 2019–2022) — even though gas supplies under 20% of EU electricity.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solar bid ≈ €0: they can only displace expensive plants (the merit-order effect lowers prices when they run).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JRC134300 (2023); ACER 2021–22 high-energy-prices assessment. Stylised teaching tool — not a dispatch simulation.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DECISIVE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machine, three fuel bills (2025 inputs)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286000"/>
                <a:gridCol w="2587752"/>
                <a:gridCol w="82296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generator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÷ 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O&amp;M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Clearing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CCGT in the EU  (TTF €38/MWhth, ETS €70/t)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38/0.56 = €67.9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(0.202/0.56)·70 = €25.3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€95/MWh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CCGT in the US  (Henry Hub ≈€11, no carbon price)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11/0.56 = €19.6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€22/MWh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 unit in China  (coal €13, ETS ≈0 effective)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13/0.41 = €31.7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(0.34/0.41)·2 = €1.7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€36/MWh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E8EEF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873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≈€73/MWh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4636008"/>
            <a:ext cx="3270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EU–US gap at the marginal generator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2064" y="397764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E8EEF0"/>
          </a:solidFill>
          <a:ln/>
        </p:spPr>
      </p:sp>
      <p:sp>
        <p:nvSpPr>
          <p:cNvPr id="10" name="Text 7"/>
          <p:cNvSpPr/>
          <p:nvPr/>
        </p:nvSpPr>
        <p:spPr>
          <a:xfrm>
            <a:off x="4459224" y="40873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≈€48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459224" y="4636008"/>
            <a:ext cx="3270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…of which fuel: the LNG wedge — liquefaction + shipping + regas + Asian JKM competition for the marginal cargo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95488" y="3977640"/>
            <a:ext cx="3544824" cy="1828800"/>
          </a:xfrm>
          <a:prstGeom prst="roundRect">
            <a:avLst>
              <a:gd name="adj" fmla="val 4000"/>
            </a:avLst>
          </a:prstGeom>
          <a:solidFill>
            <a:srgbClr val="E8EEF0"/>
          </a:solidFill>
          <a:ln/>
        </p:spPr>
      </p:sp>
      <p:sp>
        <p:nvSpPr>
          <p:cNvPr id="13" name="Text 10"/>
          <p:cNvSpPr/>
          <p:nvPr/>
        </p:nvSpPr>
        <p:spPr>
          <a:xfrm>
            <a:off x="8232648" y="4087368"/>
            <a:ext cx="3270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≈€25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232648" y="4636008"/>
            <a:ext cx="3270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…of which carbon: the deliberately internalised externality (US: none; China: intensity-based, ≈free at the margin)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 geology and logistics, one part deliberate policy. Neither part is “the market is broken.”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wholesale prices — the mechanism never changed, the inputs did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2019: gas €14/MWhth → power ≈€38. 2022: gas €123 → power ≈€235. 2025: gas €38 → power ≈€89. The pass-through check is just fuel ÷ 0.56 + carbon.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2021–22 paradox resolved: wind, solar, nuclear and hydro costs were unchanged — the marginal molecule repriced 8-fold.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line is flat because it is administered: a coal benchmark ±20%, households cross-subsidised below cost, and a meter price that omits a 550–600 gCO₂/kWh grid (EU: ≈230).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SMARD/EPEX; EIA (0.924 €/$); NDRC schedules (0.128 €/CNY). Order-of-magnitude reconstructions — re-verify against primary sources before external use.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THE OTHER HALF OF THE BILL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EU bill never touches the wholesale market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554480"/>
            <a:ext cx="432511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2024, all taxes in (household): EU-27 28.7 ¢/kWh · Germany 39.4 ¢ · US 15.2 ¢ · China 6.8 ¢.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taxes are typically &lt;5% of the bill, and half the country passes through AVERAGE (not marginal) generation cost via regulated utilities.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charges industry MORE than households (7.9 vs 6.8 ¢) — the inverse of the EU — an explicit cross-subsidy.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Renewables' costs sit here, not in wholesale: grid capex in network tariffs, legacy support in levies, balancing and backup.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 and Draghi converge: the fix is less gas at the margin — clean firm capacity, storage, demand response, interconnection — plus retail and fiscal reform. Not abandoning marginal pricing.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nrg_pc_204/205 (H2 2024); EIA 2024; NDRC. Bill shares in % of final household price.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EXERCISE · 25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merit order, then break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paper first (workbook pages 6–7): compute MC for five plants — nuclear, lignite, hard coal, CCGT, OCGT — from the parameter card (fuel, η, EF, O&amp;M, CO₂ = €70/t).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them, draw the staircase, and clear the market at 350 GW demand with 105 GW of wind and solar running. Who is marginal? What is the price?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re-run August 2022: gas at €235/MWhth, nuclear derated. What clears, and at what price?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model: flip the SAME stack to US inputs (gas ≈11, carbon 0). Watch the clearing price fall to ≈€22 — no European plant got cheaper.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question: your CEO asks why a 70%-renewable grid still prices at gas. You have 30 seconds and one staircase drawing.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0A35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34924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logic: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reflects the marginal HOUR, and storage/interconnection/clean-firm shift which machine is marginal — that is where the policy leverage lives.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82296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13:30–15:00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Electrification and the 2040 framework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carbon price reaches 46% electrification by 2040 on price alone — and what does that number stop being true with?”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least-cost tranche model in numerical parity with the Secretariat-style Python reference; final-energy identity after Liebreich (2026)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by 2040: the conservative anchor, not a stretch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554480"/>
            <a:ext cx="4050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COM(2026) 595 (17 July 2026): indicative 46% electricity share of final energy by 2040 — roughly double today's ~23%, to be enshrined in the post-2030 Energy Union package (Q4 2026).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is DIRECT electrification only; hydrogen and e-fuels add ~10–20 points on top → ~55–70% electron-derived.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Commission pitched the target at the very bottom of what its own models produce; ESABCC advice sits at 50–54%.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uses ~¾ of the realistic headroom above today — and the historic share has been flat at 21–23% since 2005.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perimeter: aviation/shipping and feedstocks in or out of the denominator moves the share 5–15 points. Much of '46 vs 50' is definitional.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COM(2026) 595; Eurelectric Decarbonisation Pathways; ESABCC 2040 advice; Eurostat.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Price-only €166/t · with the package €55/t · the €111/t gap is the point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1468" cy="1874520"/>
          </a:xfrm>
          <a:prstGeom prst="roundRect">
            <a:avLst>
              <a:gd name="adj" fmla="val 3902"/>
            </a:avLst>
          </a:prstGeom>
          <a:solidFill>
            <a:srgbClr val="E8EEF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€166/t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price to reach 46% on price alone (uniform ETS1+ETS2 price, least-cost tranches)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8708" y="1554480"/>
            <a:ext cx="2601468" cy="1874520"/>
          </a:xfrm>
          <a:prstGeom prst="roundRect">
            <a:avLst>
              <a:gd name="adj" fmla="val 3902"/>
            </a:avLst>
          </a:prstGeom>
          <a:solidFill>
            <a:srgbClr val="E8EEF0"/>
          </a:solidFill>
          <a:ln/>
        </p:spPr>
      </p:sp>
      <p:sp>
        <p:nvSpPr>
          <p:cNvPr id="9" name="Text 7"/>
          <p:cNvSpPr/>
          <p:nvPr/>
        </p:nvSpPr>
        <p:spPr>
          <a:xfrm>
            <a:off x="3515868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€55/t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5868" y="2212848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price with the demand-side package — standards, subsidies and price reform shrink the non-price barriers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8776" y="1554480"/>
            <a:ext cx="2601468" cy="1874520"/>
          </a:xfrm>
          <a:prstGeom prst="roundRect">
            <a:avLst>
              <a:gd name="adj" fmla="val 3902"/>
            </a:avLst>
          </a:prstGeom>
          <a:solidFill>
            <a:srgbClr val="E8EEF0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€111/t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45936" y="2212848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the shadow value of demand-side policy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38844" y="1554480"/>
            <a:ext cx="2601468" cy="1874520"/>
          </a:xfrm>
          <a:prstGeom prst="roundRect">
            <a:avLst>
              <a:gd name="adj" fmla="val 3902"/>
            </a:avLst>
          </a:prstGeom>
          <a:solidFill>
            <a:srgbClr val="E8EE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76004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76004" y="2212848"/>
            <a:ext cx="23271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Price-only vs the €45/t ETS2 stability trigger — the mechanism fires long before price could do the 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each sector's adoption tranches are ordered by barrier-adjusted switching cost (base + spread·f^γ); a price P electrifies every tranche below P; the package shrinks the spread and shifts the base.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46% = +20 pp = ≈1,620 TWh of new electricity and ≈870 Mt CO₂/yr abated.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'Price-only is foreclosed' is institutional, not rhetorical: ETS2 releases extra allowances above €45/t — and the 2026 agreement DOUBLED that release volume (20 → 40 million). The architecture assumes flanking measures by design.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company: Ariadne/PIK price-only estimates for these sectors run 175–350 €/t; PRIMES puts ETS2 2030 at 71–261 €/t depending purely on companion-policy strength.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Single-snapshot 2040 LP built for this question — treat the gap and the ordering as robust, absolute price levels as indicative.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PACKAGE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demand-side levers, ranked by barrier removed per euro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59352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Electricity-price reform (cheapest lever)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heat pump (SPF≈3) beats a gas boiler on running cost only when the electricity-to-gas retail ratio is below ~3, comfortably below ~2.5. Pillar 1 KPI: ratio ≤2.5 households / ≤2 industry by 2030.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(ratio ~1.4) sells ~3× the heat pumps per 1,000 households of DE/PL/HU (ratio &gt;3). Only FI &amp; SE are below 2 today. (JRC144191)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Buildings standards + funding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EPBD 2024/1275: no incentives for stand-alone fossil boilers from 2025, phase-out ~2040; Social Climate Fund €65–87 bn 2026–32.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Warning: 2024 EU heat-pump sales fell ~22% (DE −48%) despite mandates — subsidy instability and cheap gas dominated.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Vehicle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2023/851: −55% cars by 2030, 100% zero-emission 2035; AFIR charging floors.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Fuel-price elasticity ≈ −0.02 to −0.34: a fuel tax cuts car CO₂ by ~1–3%. Standards, not price, are the operative lever.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Industrial CCfDs + grids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15-year contracts-for-difference de-risk electrification; the binding constraint is grid access (€584 bn this decade).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Germany's Round 1: €2.8 bn, 15 projects, ~17 Mt over 15 yrs. &gt;3,000 GW stuck in EU connection queues (IEA).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economics: a single carbon price is first-best only if carbon is the ONLY market failure. Split incentives, slow stock turnover, credit constraints and near-zero price elasticity are independent failures — Tinbergen: one instrument per failure.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THE METRIC TRAP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final-energy fallacy: the denominator shrinks as you succeed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devices need ~3× less input energy for the same service — so every fossil→electric switch deletes 2–3 kWh of fossil final energy per kWh of electricity added.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of one gas boiler and one heat pump delivering the SAME heat has an electrification rate of ~23–25% — from a 50% device share. The share metric lags device adoption badly.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Liebreich (July 2026): hitting 46% with no help from other sectors needs ≈¾ of building heat on heat pumps (13% today) and ≈4 in 5 car-km electric — near-all-electric sales starting now, while the 2035 ICE ban is being reopened.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quarter of other fossil use switched, ~60% heat pumps and ~65% EVs suffice — other sectors buy slack.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46% point, EU final energy is ~26% BELOW today with identical heat and mobility. Success looks like shrinking, which most dashboards read as failure.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8EE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07492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identity:  </a:t>
            </a:r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electric input ÷ (electric + fossil input); toy case = (1/COP) ÷ (1/COP + 1/η) ≈ 23% at COP 3, η 0.9. Exact closed-form iso-target inversions exist — that is Exercise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Device-stock identity (no optimisation) after Liebreich via Euractiv, July 2026. Commission officials split on the metric; electrification may enter the target architecture as early as 2027.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EXERCISE · 25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mix on the iso-target frontier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plots heat-pump share (x) × EV share (y) with the 46% frontier; everything above-right of the curve meets the target. Marked: today (13, 4) and Liebreich's point (75, 80).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Your organisation's world: choose the (heat pump, EV, other-sectors) mix you believe is deliverable by 2040. Read off whether it clears the frontier.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Use the closed-form inversion (workbook page 10) to compute the EV share your heat-pump assumption REQUIRES. Results over 100% mean: unreachable on this axis alone.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Defend your mix in one flipchart line: which single policy from the morning's package does it lean on hardest?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teams discovering that modest 'other sectors' help (25% switched) moves the required mix from ¾·⅘ down to ~60%·65% — perimeter and slack matter more than heroism on any one axis.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0A35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534924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anchor: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~15-year fleet lives, a 2040 stock target is a 2026 sales target. Every year of delay moves the frontier out of reach.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822960" cy="82296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15:15–16:15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tests: politics and nature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“Two deliberate attacks on the framework — what ten softening demands cost in tonnes, and what fire does to the sink the targets lean on.”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reduced-form ETS accounting (wishlist) · wildfire cohort model on Copernicus EFFIS data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4A · POLITICS PRICED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softening demands, one accounting identity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charted: the one helpful demand — earmarking ETS revenue for clean investment — offsets ≈ −60 Mt (4.6% of the damage).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89520" y="1554480"/>
            <a:ext cx="4050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identity: under a binding banked cap, cumulative emissions ≈ cumulative cap − final bank. Demands that move the CAP or add fungible supply are the big levers.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reading: +1,294 Mt cumulative to 2040 ≈ 11.8 years of the EU's recent annual net cut, undone ≈ 10.4% of the ESABCC-advised 2030–2050 budget.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allocation is politically loud but carbonically small (+145 Mt, ~11%): inside a fixed cap it is mostly a rent transfer.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is the exception: extra-EU flights sit OUTSIDE the cap — keeping them out is genuine, uncapped forgone mitigation.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readings: 627 → 2,860 Mt (×4.6). That spread is why this ships as scenarios, not a number.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Stylised reduced-form accounting — not a market model. Wishlist text is a third-party summary of an EPP position; attribution indicative. Credit additionality default after Cames et al. (2016).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4B · NATURE STRESS-TESTS 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eat the land sink the 2040 target quietly depends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1468" cy="1965960"/>
          </a:xfrm>
          <a:prstGeom prst="roundRect">
            <a:avLst>
              <a:gd name="adj" fmla="val 3721"/>
            </a:avLst>
          </a:prstGeom>
          <a:solidFill>
            <a:srgbClr val="E8EEF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 Mha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burnt area, EU-27 — all-time EFFIS record; 43% of it in 22 Iberian fires in under two weeks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78708" y="1554480"/>
            <a:ext cx="2601468" cy="1965960"/>
          </a:xfrm>
          <a:prstGeom prst="roundRect">
            <a:avLst>
              <a:gd name="adj" fmla="val 3721"/>
            </a:avLst>
          </a:prstGeom>
          <a:solidFill>
            <a:srgbClr val="E8EEF0"/>
          </a:solidFill>
          <a:ln/>
        </p:spPr>
      </p:sp>
      <p:sp>
        <p:nvSpPr>
          <p:cNvPr id="9" name="Text 7"/>
          <p:cNvSpPr/>
          <p:nvPr/>
        </p:nvSpPr>
        <p:spPr>
          <a:xfrm>
            <a:off x="3515868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Mt/yr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5868" y="2212848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loss in 2040 at the default 5%/yr growth dial (cohort model: combustion + decomposition + foregone growth)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8776" y="1554480"/>
            <a:ext cx="2601468" cy="1965960"/>
          </a:xfrm>
          <a:prstGeom prst="roundRect">
            <a:avLst>
              <a:gd name="adj" fmla="val 3721"/>
            </a:avLst>
          </a:prstGeom>
          <a:solidFill>
            <a:srgbClr val="E8EEF0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45936" y="2212848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…of the ENTIRE planned sink improvement (212 → 317 Mt) taken back by fire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38844" y="1554480"/>
            <a:ext cx="2601468" cy="1965960"/>
          </a:xfrm>
          <a:prstGeom prst="roundRect">
            <a:avLst>
              <a:gd name="adj" fmla="val 3721"/>
            </a:avLst>
          </a:prstGeom>
          <a:solidFill>
            <a:srgbClr val="E8EE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76004" y="1664208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≈€39/t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76004" y="2212848"/>
            <a:ext cx="23271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an avoided hectare via prevention — ~10× cheaper than €400/t engineered removals. No EU instrument funds it.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is NET: sink shortfall converts one-for-one into deeper gross cuts for every other sector. Not a metaphor — subtraction.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honest denominator: the same 47 Mt is '1.0 pp of the 1990 baseline' (sounds like rounding) or '44% of the planned sink improvement' (sounds like a crisis). Both are true; pick consciously.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fire stops getting worse (0%/yr), the five-year mean already sits above what projections assume — fire only has to STAY where it is to be a problem.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Spain's 2030 fire loss ≈169% of its entire required sink improvement; four countries hold ~75% of the fire and ~27% of the sink obligation.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EFFIS 2021–25; cohort model, beta — illustrative arithmetic only, not an official position, not citable as a quantitative finding.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SYNTHESIS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framework is robust — and where it is fragile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08676" cy="4480560"/>
          </a:xfrm>
          <a:prstGeom prst="roundRect">
            <a:avLst>
              <a:gd name="adj" fmla="val 1633"/>
            </a:avLst>
          </a:prstGeom>
          <a:solidFill>
            <a:srgbClr val="E8EEF0"/>
          </a:solidFill>
          <a:ln/>
        </p:spPr>
      </p:sp>
      <p:sp>
        <p:nvSpPr>
          <p:cNvPr id="6" name="Shape 4"/>
          <p:cNvSpPr/>
          <p:nvPr/>
        </p:nvSpPr>
        <p:spPr>
          <a:xfrm>
            <a:off x="6231636" y="1554480"/>
            <a:ext cx="5408676" cy="4480560"/>
          </a:xfrm>
          <a:prstGeom prst="roundRect">
            <a:avLst>
              <a:gd name="adj" fmla="val 1633"/>
            </a:avLst>
          </a:prstGeom>
          <a:solidFill>
            <a:srgbClr val="FBEEE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(survives any reasonable parameters)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5147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cap-and-bank identity: supply-side softening = extra cumulative tonnes, arithmetically.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pricing: the last unit sets the price — in power markets and in abatement alike.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€166 ≫ €45 ≫ €55: price-only electrification is institutionally foreclosed.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allocation inside a fixed cap is mostly a rent transfer, not extra emissions.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60236" y="173736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(load-bearing and uncertain)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60236" y="2194560"/>
            <a:ext cx="495147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CDR pipeline: a 54× scale-up stands between the model's safety valve and reality; DACCS never turns competitive in the IA's own window.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sink: reversible by weather, already 100+ Mt below its 2030 target path, and outside the ETS's control entirely.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46% metric: perimeter choices move it 5–15 points; the denominator shrinks as you succeed.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credits: at CDM-era additionality rates, 260 Mt of credits ≈ 180+ Mt of extra emissions. The 2033 review is the safeguard — watch it.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· 16:15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numbers to watch to 2030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3776472"/>
                <a:gridCol w="3749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Against this anchor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tells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EUA price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€195/t by 2030 (model base case; published anchor €203)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market believes the cap — a price far below says traders expect softening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Electricity-to-gas retail price ratio, per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 KPI: ≤2.5 households / ≤2 industry by 2030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heat-pump economics work — the cheapest lever in the whole 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FID-backed CDR pipeline (Mt/yr)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~48 Mt/yr by 2040; today 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removals pillar of the 2040 target is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LULUCF sink outturn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 Mt by 2030 (2024 estimate: 212)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NET in net-zero is holding — and what fire is doing to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2033 international-credit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⇒ 2036–40 LRF reverts from 1.7% to 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~260 Mt of credits enter — the single biggest contingency in the 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274320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you now own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E8EEF0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773936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unit sets the price.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44485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gas plant prices every MWh; the marginal abatement tranche sets the required carbon price. Same economics, two domains — and most public confusion about both markets is average-cost thinking.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55448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4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32804" y="1773936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2" name="Text 10"/>
          <p:cNvSpPr/>
          <p:nvPr/>
        </p:nvSpPr>
        <p:spPr>
          <a:xfrm>
            <a:off x="643280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63156" y="173736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honest denominator.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63156" y="2194560"/>
            <a:ext cx="44485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Mt of fire loss is 1.0 pp of 1990 — or 44% of the planned sink improvement. Retail bills are half non-wholesale. Framing is a choice; make yours consciously and spot others' instantly.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E8EEF0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06908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alone is foreclosed.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4526280"/>
            <a:ext cx="44485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€166/t would do it; the system releases allowances at €45/t. The architecture ASSUMES flanking policy. Anyone arguing 'just let the carbon price work' is arguing with the Directive, not with economists.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1636" y="3886200"/>
            <a:ext cx="5408676" cy="2148840"/>
          </a:xfrm>
          <a:prstGeom prst="roundRect">
            <a:avLst>
              <a:gd name="adj" fmla="val 3404"/>
            </a:avLst>
          </a:prstGeom>
          <a:solidFill>
            <a:srgbClr val="F4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2804" y="4105656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2" name="Text 20"/>
          <p:cNvSpPr/>
          <p:nvPr/>
        </p:nvSpPr>
        <p:spPr>
          <a:xfrm>
            <a:off x="6432804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4069080"/>
            <a:ext cx="4494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targets lean on a reversible sink.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63156" y="4526280"/>
            <a:ext cx="44485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tonne the land fails to absorb is a tonne someone else must cut. The cheapest hedge (~€39/t prevention) is currently funded by no EU instrument.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holds every exercise, the formula sheet and the annotated source list.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F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are refreshed after every major EU policy event.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note — all models used today are stylised teaching instruments reproducing the logic and order of magnitude of published analyses (PIK/LIMES-EU, JRC, PRIMES, Copernicus EFFIS, Commission impact assessments). They are built for insight, not citation. Sources: COM(2026) 595/616, SWD(2026) 616, EUR-Lex, Eurostat, EEA, IEA, ACER. This workshop is independently produced and is not affiliated with, or endorsed by, any EU institution or advisory body.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908792" y="5577840"/>
            <a:ext cx="457200" cy="457200"/>
          </a:xfrm>
          <a:prstGeom prst="ellipse">
            <a:avLst/>
          </a:prstGeom>
          <a:solidFill>
            <a:srgbClr val="E364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 Climate Machine</dc:title>
  <dc:subject>PptxGenJS Presentation</dc:subject>
  <dc:creator>The EU Climate Machine — executive workshop</dc:creator>
  <cp:lastModifiedBy>The EU Climate Machine — executive workshop</cp:lastModifiedBy>
  <cp:revision>1</cp:revision>
  <dcterms:created xsi:type="dcterms:W3CDTF">2026-08-05T08:52:52Z</dcterms:created>
  <dcterms:modified xsi:type="dcterms:W3CDTF">2026-08-05T08:52:52Z</dcterms:modified>
</cp:coreProperties>
</file>